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47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geon -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560320" cy="1440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949065" y="958108"/>
            <a:ext cx="109728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3430"/>
                </a:solidFill>
                <a:latin typeface="Montserrat"/>
              </a:defRPr>
            </a:pPr>
            <a:r>
              <a:rPr dirty="0"/>
              <a:t>WHAT AGEON IS &amp; WHAT AGEON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8288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What AGEON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2316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AGEON is India’s Smart-Ageing &amp; Longevity Platform—a category-defining system built to transform how people experience health, ageing, and performance.</a:t>
            </a:r>
            <a:br/>
            <a:r>
              <a:t>It is not a wellness clinic and not a collection of therapies.</a:t>
            </a:r>
            <a:br/>
            <a:r>
              <a:t>AGEON is a protocol-driven, science-backed longevity system designed for measurable health outcomes and long-term vitality.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200" b="1">
                <a:solidFill>
                  <a:srgbClr val="E1251D"/>
                </a:solidFill>
                <a:latin typeface="Calibri"/>
              </a:defRPr>
            </a:pPr>
            <a:r>
              <a:t>AGEON exists because: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519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India is living longer, but not healthier.</a:t>
            </a:r>
            <a:br/>
            <a:r>
              <a:t>Modern lifestyles are accelerating:</a:t>
            </a:r>
            <a:br/>
            <a:r>
              <a:t>• Fatigue &amp; burnout</a:t>
            </a:r>
            <a:br/>
            <a:r>
              <a:t>• Metabolic dysfunction</a:t>
            </a:r>
            <a:br/>
            <a:r>
              <a:t>• Poor recovery</a:t>
            </a:r>
            <a:br/>
            <a:r>
              <a:t>• Hormonal imbalance</a:t>
            </a:r>
            <a:br/>
            <a:r>
              <a:t>• Early ageing</a:t>
            </a:r>
            <a:br/>
            <a:br/>
            <a:r>
              <a:t>Most people act only after symptoms appear.</a:t>
            </a:r>
            <a:br/>
            <a:r>
              <a:t>AGEON shifts this paradigm to preventive, proactive, and performance-led health.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011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800" b="1">
                <a:solidFill>
                  <a:srgbClr val="00A896"/>
                </a:solidFill>
                <a:latin typeface="Calibri"/>
              </a:defRPr>
            </a:pPr>
            <a:r>
              <a:t>What AGEON Does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423160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AGEON integrates diagnostics, therapies, protocols, and tracking into one seamless ecosystem.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2834640"/>
            <a:ext cx="29718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806440" y="290779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0A896"/>
                </a:solidFill>
                <a:latin typeface="Calibri"/>
              </a:defRPr>
            </a:pPr>
            <a:r>
              <a:t>1. Protocol-Led Longevity System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06440" y="31821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does not sell random treatments.</a:t>
            </a:r>
            <a:br/>
            <a:r>
              <a:t>It delivers structured, outcome-driven protocols.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23960" y="2834640"/>
            <a:ext cx="29718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961120" y="290779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0A896"/>
                </a:solidFill>
                <a:latin typeface="Calibri"/>
              </a:defRPr>
            </a:pPr>
            <a:r>
              <a:t>2. Integrated Diagnostics Engine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0" y="31821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begins with deep health measurement, not assumptions.</a:t>
            </a:r>
            <a:br/>
            <a:r>
              <a:t>This creates a true biological baseline, enabling precision-driven care.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0" y="4206240"/>
            <a:ext cx="29718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06440" y="427939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0A896"/>
                </a:solidFill>
                <a:latin typeface="Calibri"/>
              </a:defRPr>
            </a:pPr>
            <a:r>
              <a:t>3. Therapy Stack (Delivered via Protocols)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45537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Therapies are not sold in isolation, but assigned based on need.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823960" y="4206240"/>
            <a:ext cx="29718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961120" y="427939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0A896"/>
                </a:solidFill>
                <a:latin typeface="Calibri"/>
              </a:defRPr>
            </a:pPr>
            <a:r>
              <a:t>4. The AGEON Journey (Structured System)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5537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Every member follows a defined transformation pathway:</a:t>
            </a:r>
            <a:br/>
            <a:r>
              <a:t>Assessment → Full diagnostic baseline</a:t>
            </a:r>
            <a:br/>
            <a:r>
              <a:t>Protocol Assignment → Personalized roadmap</a:t>
            </a:r>
            <a:br/>
            <a:r>
              <a:t>Guided Delivery → Expert-led therapies</a:t>
            </a:r>
            <a:br/>
            <a:r>
              <a:t>Tracking &amp; Optimization → Continuous improvement</a:t>
            </a:r>
            <a:br/>
            <a:r>
              <a:t>This ensures measurable outcomes, not guesswork.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0" y="5577840"/>
            <a:ext cx="2971800" cy="123444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806440" y="5650992"/>
            <a:ext cx="2697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0A896"/>
                </a:solidFill>
                <a:latin typeface="Calibri"/>
              </a:defRPr>
            </a:pPr>
            <a:r>
              <a:t>5. Membership-First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925312"/>
            <a:ext cx="2697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is built on continuity, not one-time visits.</a:t>
            </a:r>
            <a:br/>
            <a:r>
              <a:t>This makes AGEON a lifestyle system—not a service center.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Ageon - log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20040"/>
            <a:ext cx="2560320" cy="14401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280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2800" b="1">
                <a:solidFill>
                  <a:srgbClr val="0A3430"/>
                </a:solidFill>
                <a:latin typeface="Montserrat"/>
              </a:defRPr>
            </a:pPr>
            <a:r>
              <a:t>PURPOSE, VISION &amp; SCIENCE BEHIND AGEON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828800" cy="36576"/>
          </a:xfrm>
          <a:prstGeom prst="rect">
            <a:avLst/>
          </a:prstGeom>
          <a:solidFill>
            <a:srgbClr val="00A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600" b="1">
                <a:solidFill>
                  <a:srgbClr val="00A896"/>
                </a:solidFill>
                <a:latin typeface="Calibri"/>
              </a:defRPr>
            </a:pPr>
            <a:r>
              <a:t>The 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77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AGEON’s purpose is clear:</a:t>
            </a:r>
            <a:br/>
            <a:r>
              <a:t>To shift healthcare from reactive treatment to proactive longevity.</a:t>
            </a:r>
            <a:br/>
            <a:br/>
            <a:r>
              <a:t>It focuses on:</a:t>
            </a:r>
            <a:br/>
            <a:r>
              <a:t>• Extending healthspan (not just lifespan)</a:t>
            </a:r>
            <a:br/>
            <a:r>
              <a:t>• Preventing disease before it appears</a:t>
            </a:r>
            <a:br/>
            <a:r>
              <a:t>• Enhancing physical, mental, and metabolic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11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600" b="1">
                <a:solidFill>
                  <a:srgbClr val="00A896"/>
                </a:solidFill>
                <a:latin typeface="Calibri"/>
              </a:defRPr>
            </a:pPr>
            <a:r>
              <a:t>The 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37744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AGEON is building:</a:t>
            </a:r>
            <a:br/>
            <a:r>
              <a:t>India’s Longevity Infrastructure</a:t>
            </a:r>
            <a:br/>
            <a:r>
              <a:t>Not a clinic chain. Not a therapy brand.</a:t>
            </a:r>
            <a:br/>
            <a:r>
              <a:t>But a national platform for smart-ageing and preventive health.</a:t>
            </a:r>
            <a:br/>
            <a:br/>
            <a:r>
              <a:t>The long-term vision includes:</a:t>
            </a:r>
            <a:br/>
            <a:r>
              <a:t>• Multi-city expansion (flagship → metro → tier 2 → corporate)</a:t>
            </a:r>
            <a:br/>
            <a:r>
              <a:t>• Standardized, scalable wellness systems</a:t>
            </a:r>
            <a:br/>
            <a:r>
              <a:t>• A premium, trust-driven health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600" b="1">
                <a:solidFill>
                  <a:srgbClr val="00A896"/>
                </a:solidFill>
                <a:latin typeface="Calibri"/>
              </a:defRPr>
            </a:pPr>
            <a:r>
              <a:t>The Science Behind AGEON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3484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000" b="0">
                <a:solidFill>
                  <a:srgbClr val="505050"/>
                </a:solidFill>
                <a:latin typeface="Calibri"/>
              </a:defRPr>
            </a:pPr>
            <a:r>
              <a:t>AGEON is built on a data-driven, cellular-level health model.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754880"/>
            <a:ext cx="274320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A3430"/>
                </a:solidFill>
                <a:latin typeface="Calibri"/>
              </a:defRPr>
            </a:pPr>
            <a:r>
              <a:t>1. Integrated Health Measurement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510235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tracks key biological systems:</a:t>
            </a:r>
            <a:br/>
            <a:r>
              <a:t>• Metabolic health (energy, glucose, body composition)</a:t>
            </a:r>
            <a:br/>
            <a:r>
              <a:t>• Cardiovascular risk (endurance, early indicators)</a:t>
            </a:r>
            <a:br/>
            <a:r>
              <a:t>• Biological ageing (cellular decline, vitality markers)</a:t>
            </a:r>
            <a:br/>
            <a:r>
              <a:t>• Inflammation &amp; recovery (stress load, resilience)</a:t>
            </a:r>
            <a:br/>
            <a:r>
              <a:t>This creates a 360° view of human health, not fragmented insights.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29000" y="4754880"/>
            <a:ext cx="274320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6616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A3430"/>
                </a:solidFill>
                <a:latin typeface="Calibri"/>
              </a:defRPr>
            </a:pPr>
            <a:r>
              <a:t>2. Cellular &amp; Functional Optimization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510235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targets root causes of ageing:</a:t>
            </a:r>
            <a:br/>
            <a:r>
              <a:t>• Cellular damage</a:t>
            </a:r>
            <a:br/>
            <a:r>
              <a:t>• Oxygen inefficiency</a:t>
            </a:r>
            <a:br/>
            <a:r>
              <a:t>• Chronic inflammation</a:t>
            </a:r>
            <a:br/>
            <a:r>
              <a:t>• Metabolic imbalance</a:t>
            </a:r>
            <a:br/>
            <a:br/>
            <a:r>
              <a:t>Therapies are designed to:</a:t>
            </a:r>
            <a:br/>
            <a:r>
              <a:t>• Improve cellular repair</a:t>
            </a:r>
            <a:br/>
            <a:r>
              <a:t>• Enhance mitochondrial efficiency</a:t>
            </a:r>
            <a:br/>
            <a:r>
              <a:t>• Boost recovery and resilience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754880"/>
            <a:ext cx="274320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A3430"/>
                </a:solidFill>
                <a:latin typeface="Calibri"/>
              </a:defRPr>
            </a:pPr>
            <a:r>
              <a:t>3. Protocol-Based Clinical Logic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10235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Unlike traditional wellness:</a:t>
            </a:r>
            <a:br/>
            <a:r>
              <a:t>• No random treatments</a:t>
            </a:r>
            <a:br/>
            <a:r>
              <a:t>• No session-based approach</a:t>
            </a:r>
            <a:br/>
            <a:br/>
            <a:r>
              <a:t>AGEON follows:</a:t>
            </a:r>
            <a:br/>
            <a:r>
              <a:t>• Doctor-led intake</a:t>
            </a:r>
            <a:br/>
            <a:r>
              <a:t>• Data-driven decision systems</a:t>
            </a:r>
            <a:br/>
            <a:r>
              <a:t>• Standardized clinical pathways</a:t>
            </a:r>
            <a:br/>
            <a:r>
              <a:t>• Continuous outcome tracking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4754880"/>
            <a:ext cx="274320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C8E6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482803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1100" b="1">
                <a:solidFill>
                  <a:srgbClr val="0A3430"/>
                </a:solidFill>
                <a:latin typeface="Calibri"/>
              </a:defRPr>
            </a:pPr>
            <a:r>
              <a:t>4. Measurable Outcomes &amp; Optimization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5102352"/>
            <a:ext cx="24688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 algn="l">
              <a:defRPr sz="900" b="0">
                <a:solidFill>
                  <a:srgbClr val="505050"/>
                </a:solidFill>
                <a:latin typeface="Calibri"/>
              </a:defRPr>
            </a:pPr>
            <a:r>
              <a:t>AGEON ensures:</a:t>
            </a:r>
            <a:br/>
            <a:r>
              <a:t>• Continuous tracking</a:t>
            </a:r>
            <a:br/>
            <a:r>
              <a:t>• Protocol refinement</a:t>
            </a:r>
            <a:br/>
            <a:r>
              <a:t>• Long-term performance visibility</a:t>
            </a:r>
            <a:br/>
            <a:br/>
            <a:r>
              <a:t>This transforms wellness into a measurable, repeatable system.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634</Words>
  <Application>Microsoft Office PowerPoint</Application>
  <PresentationFormat>Widescreen</PresentationFormat>
  <Paragraphs>63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Hardik Verma</cp:lastModifiedBy>
  <cp:revision>2</cp:revision>
  <dcterms:created xsi:type="dcterms:W3CDTF">2013-01-27T09:14:16Z</dcterms:created>
  <dcterms:modified xsi:type="dcterms:W3CDTF">2026-04-14T11:25:52Z</dcterms:modified>
  <cp:category/>
</cp:coreProperties>
</file>